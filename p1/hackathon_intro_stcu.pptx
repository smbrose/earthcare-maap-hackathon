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332" r:id="rId2"/>
    <p:sldId id="3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1618"/>
  </p:normalViewPr>
  <p:slideViewPr>
    <p:cSldViewPr snapToGrid="0">
      <p:cViewPr varScale="1">
        <p:scale>
          <a:sx n="87" d="100"/>
          <a:sy n="87" d="100"/>
        </p:scale>
        <p:origin x="17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1EC0A4-86F6-8344-83A3-DC57848B670F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E2DF14-485E-C249-8DED-8CA440A75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97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5E968-FCE0-431C-99B4-EC8EA971DFF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1203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6C203-8FBC-3112-2AE7-BF44A9265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137865-06DD-7698-C592-0A63BEC54A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B7AFB0-0926-C98C-DB0E-D9BA03B59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subtopics relate to models</a:t>
            </a:r>
          </a:p>
          <a:p>
            <a:pPr marL="171450" indent="-171450">
              <a:buFontTx/>
              <a:buChar char="-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same products</a:t>
            </a:r>
          </a:p>
          <a:p>
            <a:pPr marL="171450" indent="-171450">
              <a:buFontTx/>
              <a:buChar char="-"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ED2A0-689B-7C7B-57A9-034FC96713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5E968-FCE0-431C-99B4-EC8EA971DFFE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5341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14AF-4F13-57BF-4D55-685F303D56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51A123-F86B-B368-6F6D-7AD8F32C3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AE2B1-7AAE-E123-C90B-F75F9910C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F019F-0E2C-6145-88ED-0DF72D4AAAA3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55913-E53E-D25E-5267-C2C2B3241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9C4B4-1E5B-704C-573D-AFC1ED78A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93A75-4F97-2C46-908B-486AD5B35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436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383F-0337-DBD5-F054-904F913FE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D03A1-2FEE-1E24-8A59-9282407D7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2D0DD-7F58-1A85-82C4-C0B8ABF34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F019F-0E2C-6145-88ED-0DF72D4AAAA3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CB6AD-7355-9C04-C3BC-3F2821564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0B17-0DA3-F1CE-A83C-2C89C4EE9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93A75-4F97-2C46-908B-486AD5B35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519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02CE9-6744-FE9D-DE0A-ED58A5A77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830F1-F334-EA4D-2FE3-5290F9F0B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0F5EA-F70D-8D51-5844-E4B4A64E6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F019F-0E2C-6145-88ED-0DF72D4AAAA3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8682B-48D0-4505-33B9-403B5FA66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483C6-2118-FF28-98E7-22C69C283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93A75-4F97-2C46-908B-486AD5B35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52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308F0-62DE-D420-FE6F-AB4B72C1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61F4E-ACC4-9483-608B-959EE3BF96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C71B7-FAAB-C5E3-2EAE-B73D21BD0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23E4A-42F3-7EFD-FAC6-6EFF18978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F019F-0E2C-6145-88ED-0DF72D4AAAA3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DF93A5-917C-38FF-8766-9A6728370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78978-DEDE-124D-1E5D-310656651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93A75-4F97-2C46-908B-486AD5B35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133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D74A8-E0B9-5944-4514-A19EFA84B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1B8DE-D8E4-4ACF-D658-DCC587E03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631E22-2813-8758-42FE-21D9FB071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A25931-BD61-40FF-42C8-1320CEF82B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F0DD63-02C8-50FE-6856-8CF498C39D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F19A70-81EC-78E1-9274-1AEC0597C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F019F-0E2C-6145-88ED-0DF72D4AAAA3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E849E-5AC8-CCFC-3BA7-B972B22E6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B987BB-B71B-E140-BC10-279174152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93A75-4F97-2C46-908B-486AD5B35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172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7F27B-9F5C-8BFB-F0B3-8528AA6EB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8D6EB5-D820-C55B-5C31-16F804429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F019F-0E2C-6145-88ED-0DF72D4AAAA3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BC8737-EFC7-E5BC-956A-7E8FC9F02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B1E6ED-5BE6-04BF-EFDB-A253EC5B4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93A75-4F97-2C46-908B-486AD5B35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98E013-492F-B8A9-2356-DE35719B3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F019F-0E2C-6145-88ED-0DF72D4AAAA3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27695D-F46E-B9CD-5768-5BE3A5D4B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C4395-8375-86ED-3A66-84D8D9C6B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93A75-4F97-2C46-908B-486AD5B35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306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F9A25-6D84-D4D9-9FA8-9CB770067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1FF31-8BBC-C82D-2196-6CEADB6B2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BD2D2C-9702-22D5-7597-C4800FED8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C3C1E-C10E-E14E-EBC8-9988EA76E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F019F-0E2C-6145-88ED-0DF72D4AAAA3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03EC1-68CF-38EE-AA89-9606BE034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F086F-8556-A42D-FFBC-5B349BA5B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93A75-4F97-2C46-908B-486AD5B35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267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9FEFD-A9C9-FA35-D17D-70ABEC6F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518F45-0A73-2BDB-775F-131F9C2DF6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79A225-B2BE-32EC-2AE5-41A752A7E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B04E7-27FA-954A-49BB-C57E56F02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F019F-0E2C-6145-88ED-0DF72D4AAAA3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57228-F2BF-85DD-35D7-573369C54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579F33-5122-30F3-1F88-E26B997D5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93A75-4F97-2C46-908B-486AD5B35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45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62155-93E1-198F-4112-C8A1168F1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BBEF1-BA25-BEC5-3DD0-A425F4D408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06494-646B-8FFB-7142-A32D77EB9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F019F-0E2C-6145-88ED-0DF72D4AAAA3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DEE17-B445-8C83-0F7C-8E529ADFB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4562B-959A-8D07-F33A-A87018874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93A75-4F97-2C46-908B-486AD5B35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70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DED891-D46F-AFF4-A4B5-9C9DE1B448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E927E-100C-8BE0-3DFE-0998F1691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35DE5-7917-821B-DEB6-28695A31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F019F-0E2C-6145-88ED-0DF72D4AAAA3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C1DEB-A88B-7035-0A18-8C2BC23A8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56F1A-BA2F-E44E-377B-2EF5F7EF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93A75-4F97-2C46-908B-486AD5B35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042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E3E053EA-A9E0-4FC3-87BC-5CADB14D4D0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411480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84" imgH="385" progId="TCLayout.ActiveDocument.1">
                  <p:embed/>
                </p:oleObj>
              </mc:Choice>
              <mc:Fallback>
                <p:oleObj name="think-cell Folie" r:id="rId4" imgW="384" imgH="38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3E053EA-A9E0-4FC3-87BC-5CADB14D4D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0336F15A-9D0F-40C1-A205-2471F1ECE4E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300" b="1" i="0" baseline="0" dirty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7739" y="2097088"/>
            <a:ext cx="10296524" cy="4310912"/>
          </a:xfrm>
        </p:spPr>
        <p:txBody>
          <a:bodyPr numCol="1" spcCol="540000"/>
          <a:lstStyle>
            <a:lvl3pPr>
              <a:defRPr b="0">
                <a:solidFill>
                  <a:schemeClr val="tx1"/>
                </a:solidFill>
              </a:defRPr>
            </a:lvl3pPr>
            <a:lvl4pPr>
              <a:defRPr b="1">
                <a:solidFill>
                  <a:schemeClr val="tx2"/>
                </a:solidFill>
              </a:defRPr>
            </a:lvl4pPr>
            <a:lvl8pPr>
              <a:defRPr spc="120" baseline="0"/>
            </a:lvl8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2F4A3F7E-F464-948C-BBDE-99190CEA7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EAB7D5B-A46F-BBA8-09C0-E32F54919E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CF0C06-1A98-994F-8E20-752F07ED4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5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CB8AD-57B6-2A59-5F6B-15459BAFB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3B38A-9B22-99B3-AEB0-B062A56EF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F264B-47E8-DF86-CD87-76F0E2C3CF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4F019F-0E2C-6145-88ED-0DF72D4AAAA3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85D69-BB11-DD03-AB30-6EDC103544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E6343-0882-EC58-7DA0-176826194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693A75-4F97-2C46-908B-486AD5B35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39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41237BA-2F97-397C-1655-C540957F8C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743200" y="1188720"/>
            <a:ext cx="5029200" cy="50292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FFA468-3E5A-9F47-E937-9C11AAA1BDEF}"/>
              </a:ext>
            </a:extLst>
          </p:cNvPr>
          <p:cNvSpPr txBox="1"/>
          <p:nvPr/>
        </p:nvSpPr>
        <p:spPr>
          <a:xfrm>
            <a:off x="7905243" y="5771644"/>
            <a:ext cx="3931126" cy="44627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200" noProof="0" dirty="0"/>
              <a:t>southeastern Pacific -20...-10 N, -90...-80 W</a:t>
            </a:r>
          </a:p>
          <a:p>
            <a:pPr>
              <a:spcBef>
                <a:spcPts val="600"/>
              </a:spcBef>
            </a:pPr>
            <a:r>
              <a:rPr lang="en-US" sz="1200" noProof="0" dirty="0"/>
              <a:t>10 Sep 2025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1B8F9B4A-4B94-8045-F35D-A29EDC91CCCB}"/>
              </a:ext>
            </a:extLst>
          </p:cNvPr>
          <p:cNvSpPr txBox="1">
            <a:spLocks/>
          </p:cNvSpPr>
          <p:nvPr/>
        </p:nvSpPr>
        <p:spPr>
          <a:xfrm>
            <a:off x="914400" y="548640"/>
            <a:ext cx="10296524" cy="371961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ts val="2600"/>
              </a:lnSpc>
              <a:spcBef>
                <a:spcPct val="0"/>
              </a:spcBef>
              <a:spcAft>
                <a:spcPts val="1800"/>
              </a:spcAft>
              <a:buNone/>
              <a:defRPr sz="2300" b="1" kern="600" cap="all" spc="14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cap="none" dirty="0"/>
              <a:t>Stratocumulus clouds: </a:t>
            </a:r>
            <a:r>
              <a:rPr lang="en-US" sz="3600" cap="none" dirty="0" err="1"/>
              <a:t>EarthCare</a:t>
            </a:r>
            <a:r>
              <a:rPr lang="en-US" sz="3600" cap="none" dirty="0"/>
              <a:t> vs models</a:t>
            </a:r>
            <a:endParaRPr lang="en-US" sz="3200" b="0" cap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014BC-6953-4B75-1A27-CFAE509B70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CF0C06-1A98-994F-8E20-752F07ED48A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711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7F407-0E0E-15D2-3CBD-578A4820E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45CB9352-8AE0-8D5C-F1E7-2B0B144A40A7}"/>
              </a:ext>
            </a:extLst>
          </p:cNvPr>
          <p:cNvSpPr txBox="1">
            <a:spLocks/>
          </p:cNvSpPr>
          <p:nvPr/>
        </p:nvSpPr>
        <p:spPr>
          <a:xfrm>
            <a:off x="804863" y="592637"/>
            <a:ext cx="10840065" cy="37196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ts val="2600"/>
              </a:lnSpc>
              <a:spcBef>
                <a:spcPct val="0"/>
              </a:spcBef>
              <a:spcAft>
                <a:spcPts val="1800"/>
              </a:spcAft>
              <a:buNone/>
              <a:defRPr sz="2300" b="1" kern="600" cap="all" spc="14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cap="none" noProof="0" dirty="0"/>
              <a:t>Stratocumulus clouds: </a:t>
            </a:r>
            <a:r>
              <a:rPr lang="en-US" sz="3600" cap="none" dirty="0" err="1"/>
              <a:t>EarthCare</a:t>
            </a:r>
            <a:r>
              <a:rPr lang="en-US" sz="3600" cap="none" dirty="0"/>
              <a:t> vs models: </a:t>
            </a:r>
            <a:r>
              <a:rPr lang="en-US" sz="3600" cap="none" noProof="0" dirty="0"/>
              <a:t>subtopics</a:t>
            </a:r>
            <a:endParaRPr lang="en-US" sz="3200" b="0" cap="none" noProof="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9FB94-3E16-4A41-4617-4B0E75F21C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CF0C06-1A98-994F-8E20-752F07ED48A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E2E3B1-A9B7-1F2C-3DB5-BC844C5F0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259307"/>
              </p:ext>
            </p:extLst>
          </p:nvPr>
        </p:nvGraphicFramePr>
        <p:xfrm>
          <a:off x="804863" y="1147125"/>
          <a:ext cx="10548937" cy="32634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62853">
                  <a:extLst>
                    <a:ext uri="{9D8B030D-6E8A-4147-A177-3AD203B41FA5}">
                      <a16:colId xmlns:a16="http://schemas.microsoft.com/office/drawing/2014/main" val="246646151"/>
                    </a:ext>
                  </a:extLst>
                </a:gridCol>
                <a:gridCol w="870155">
                  <a:extLst>
                    <a:ext uri="{9D8B030D-6E8A-4147-A177-3AD203B41FA5}">
                      <a16:colId xmlns:a16="http://schemas.microsoft.com/office/drawing/2014/main" val="3645666629"/>
                    </a:ext>
                  </a:extLst>
                </a:gridCol>
                <a:gridCol w="3315929">
                  <a:extLst>
                    <a:ext uri="{9D8B030D-6E8A-4147-A177-3AD203B41FA5}">
                      <a16:colId xmlns:a16="http://schemas.microsoft.com/office/drawing/2014/main" val="720738745"/>
                    </a:ext>
                  </a:extLst>
                </a:gridCol>
              </a:tblGrid>
              <a:tr h="11442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Correlation among macroscopic properties: albedo, liquid water path, cloud fraction, rain rate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global km-scale climate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3638785"/>
                  </a:ext>
                </a:extLst>
              </a:tr>
              <a:tr h="11586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Langrangian</a:t>
                      </a:r>
                      <a:r>
                        <a:rPr lang="en-US" sz="2400" dirty="0"/>
                        <a:t> transitions from closed to open cells with focus on the role of cold pools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regional simulation over southeastern Pacific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211462"/>
                  </a:ext>
                </a:extLst>
              </a:tr>
              <a:tr h="8860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Small-scale cloud heterogeneity and 3D effects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3D Monte Carlo</a:t>
                      </a:r>
                    </a:p>
                    <a:p>
                      <a:r>
                        <a:rPr lang="en-US" sz="2400" dirty="0"/>
                        <a:t>radiative transfer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696200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E642C50-8F07-5C10-768E-3A4266186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698" y="4574421"/>
            <a:ext cx="6756603" cy="216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8182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LHmIlg6ixrRaGTEjx9Lw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93</Words>
  <Application>Microsoft Macintosh PowerPoint</Application>
  <PresentationFormat>Widescreen</PresentationFormat>
  <Paragraphs>17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think-cell Folie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Nowak</dc:creator>
  <cp:lastModifiedBy>Jakub Nowak</cp:lastModifiedBy>
  <cp:revision>2</cp:revision>
  <dcterms:created xsi:type="dcterms:W3CDTF">2026-04-20T13:58:42Z</dcterms:created>
  <dcterms:modified xsi:type="dcterms:W3CDTF">2026-04-20T14:28:07Z</dcterms:modified>
</cp:coreProperties>
</file>